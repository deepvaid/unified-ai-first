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Thanks for making the time — 45 minutes, and I will keep us on schedule.
One sentence to remember: we built a full working copy of our product, where every screen follows one shared set of rules. Looks like our product, clicks like our product — runs on pretend data, so it is completely safe to play with.
Promise: nothing today is a picture. Every screen is real, running software. If you think something is a mockup, say so and I will click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plan for our time. First, why we did this. Then a short film. Then the part that matters most — five real screens, live. Then how it works in plain terms, the plan from here, and your questions.
Ask questions as they come up — this works better as a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five Save buttons, all from patterns in our current product. Five shapes, five blues, five fonts — for the same action.
Nobody chose this. Screens were built at different times, by different teams, with no shared rulebook. Each team made sensible decisions — just different ones.
Second problem: trying an idea took weeks, so decisions were made from static pictures — and pictures are always on their best behavior.
Customers feel the result, even if they cannot name it: the product does not feel like one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our dashboard as it looks today — a faithful recreation of my actual account. It works, but it is not telling me much, and every box looks a little different.
Right: the same screen, same account, same numbers — rebuilt in the sandbox. Every card comes from one shared kit of parts.
This is the only jargon today: a design system is a shared kit of parts plus a rulebook. Build every screen from the same kit and everything matches, automatically.
DO: if the room leans in, Cmd-Tab to the logged-in UAT tab for ten seconds — "this is the real product, live, compare for yourself" — then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I start clicking around, here is the whole story in 75 seconds.
DO: play the reel MP4 from the desktop, full-screen. When it ends, pause a beat before speaking. Fallback: the /reel tab shows the same cards live — arrow through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IS: a working prototype environment — 171 real screens on the same technology our product uses. One shared kit of parts behind all of them. Live on the web right now — click it after this call.
IT ISN’T: a rewrite — nothing changes for customers tomorrow. Not connected to real data — pretend data, on purpose, so nothing can break. Not a second system to maintain forever — the plan is to fold the good parts into LiquidSky, and I will show you how.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89 shared components — the parts in the kit. 84 fully documented. 171 screens built from those parts. 297 design decisions — every color, every spacing size — written down once, in one place. Two complete themes from one switch.
These are not estimates; they are counted from the actual project. If the count changes, this slide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part I actually came here to do. Five screens, all live. Ten seconds on this map, then switch to the browser.
Demo rules: open and close things freely — never save, never delete. If a screen misbehaves: "I’ll come back to that one," move on. Every stop has a backup screenshot in the appendix.
Stop 1 Dashboard (3 min): drag a widget, change the date range. "Notice how calm it is — three hundred tiny decisions made once."
Stop 2 Sales Orders (4 min): tabs, search, filter panel, tick a row for the bulk bar. "Learn this screen once and you know half the product."
Stop 3 Contact detail (2 min): open Edit, close it. "One way to edit things, not thirty."
Stop 4 Journey builder (3 min): click a node. "A canvas, not a table — same kit underneath. Same family, different room."
Stop 5 Da Vinci (2 min), then THE FINALE: press D — the whole app flips dark. Pause. Press L. "297 written-down decisions flipping at once. One change, every screen updates."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layers, bottom to top. Decisions: every color and spacing size, written down once. Parts: buttons, fields, cards — built from those decisions. Patterns: bigger assemblies like page headers and toolbars. Page recipes: list pages, detail pages. Product areas: dashboards and builders — own layouts, same foundations.
Change a decision at the bottom and it flows up through everything. That is what you saw in the dark-mode flip.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part in the kit has its own instruction page: what it is for, when to use it, when not to.
The clever bit: the page renders the actual part — the same one the screens use — not a drawing of it. So the documentation physically cannot go out of date.
House rule: if a part has no instruction page, it does not exist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all of it buys you, whatever your role: an idea can become a clickable prototype in a day, because the parts already exist.
Instead of debating a static picture in a meeting, you click a link on your own laptop and try the real flow.
I can vouch for this personally — this sandbox was built exactly that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plan is deliberately boring — that is a compliment.
Step 1: compatibility review — two named people sort every part into four buckets: use LiquidSky’s version, wrap it, contribute ours, or keep it local. About two weeks.
Step 2: pilot the low-risk parts. Step 3: one full page — Sales Orders — built the new way in the real product. Step 4: area by area, at the pace the evidence supports.
No dates on this slide, deliberately. Anyone quoting a migration date before the pilots is guessing. The pilots turn my guesses into numbers you can hold me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 need from this room today — six decisions, none of which cost budget or headcount this quarter.
Walk through them one by one. Number six is me volunteering a constraint: one shared foundation, no second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FAQ crib sheet within reach (docs/design-system/showcase-faq-crib-sheet.md).
If the room is quiet, open with: "The question I’d be asking in your seats is: aren’t we building everything twice? Let me answer that one first, because it’s fair." (Crib sheet #21.)
Parking-lot phrase: "Great question — I don’t want to hand-wave it. Let me take it into the compatibility review and come back with evidence instead of adjectives."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 showed you is live right now. The sandbox stays open — go click the things I did not get to.
Try to break it: it is pretend data, you cannot hurt anything.
DO: drop the sandbox link in the meeting chat, and leave this slide up while people drop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fallback: narrate over this screenshot if the live demo misbehaves. Captured from the running sandbox on 2026-07-20.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fallback: narrate over this screenshot if the live demo misbehaves. Captured from the running sandbox on 2026-07-20.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fallback: narrate over this screenshot if the live demo misbehaves. Captured from the running sandbox on 2026-07-20.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fallback: narrate over this screenshot if the live demo misbehaves. Captured from the running sandbox on 2026-07-20.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fallback: narrate over this screenshot if the live demo misbehaves. Captured from the running sandbox on 2026-07-20.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fallback for the finale: the same dashboard in light and dark. One keypress, 297 written-down decisions flip at once — no screen is special-cased.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RE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320040"/>
            <a:ext cx="228600" cy="41148"/>
          </a:xfrm>
          <a:prstGeom prst="rect">
            <a:avLst/>
          </a:prstGeom>
          <a:solidFill>
            <a:srgbClr val="0073AB"/>
          </a:solidFill>
          <a:ln w="12700">
            <a:solidFill>
              <a:srgbClr val="0073A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6419088"/>
            <a:ext cx="11155680" cy="0"/>
          </a:xfrm>
          <a:prstGeom prst="line">
            <a:avLst/>
          </a:prstGeom>
          <a:noFill/>
          <a:ln w="10160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6501384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MAROPOST  /  DESIGN SANDBOX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823960" y="650138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10" kern="0" dirty="0">
                <a:solidFill>
                  <a:srgbClr val="8791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LEADERSHIP SHOWCASE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48309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A6573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A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320040"/>
            <a:ext cx="228600" cy="41148"/>
          </a:xfrm>
          <a:prstGeom prst="rect">
            <a:avLst/>
          </a:prstGeom>
          <a:solidFill>
            <a:srgbClr val="2CC4FF"/>
          </a:solidFill>
          <a:ln w="12700">
            <a:solidFill>
              <a:srgbClr val="2CC4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6419088"/>
            <a:ext cx="11155680" cy="0"/>
          </a:xfrm>
          <a:prstGeom prst="line">
            <a:avLst/>
          </a:prstGeom>
          <a:noFill/>
          <a:ln w="10160">
            <a:solidFill>
              <a:srgbClr val="403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6501384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B8B2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MAROPOST  /  DESIGN SANDBOX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823960" y="650138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10" kern="0" dirty="0">
                <a:solidFill>
                  <a:srgbClr val="B8B2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LEADERSHIP SHOWCASE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48309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B8B2A7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PPENDIX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320040"/>
            <a:ext cx="228600" cy="41148"/>
          </a:xfrm>
          <a:prstGeom prst="rect">
            <a:avLst/>
          </a:prstGeom>
          <a:solidFill>
            <a:srgbClr val="0073AB"/>
          </a:solidFill>
          <a:ln w="12700">
            <a:solidFill>
              <a:srgbClr val="0073A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6419088"/>
            <a:ext cx="11155680" cy="0"/>
          </a:xfrm>
          <a:prstGeom prst="line">
            <a:avLst/>
          </a:prstGeom>
          <a:noFill/>
          <a:ln w="10160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6501384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MAROPOST  /  DESIGN SANDBOX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823960" y="650138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10" kern="0" dirty="0">
                <a:solidFill>
                  <a:srgbClr val="8791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APPENDIX / DEMO FALLBACK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48309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A6573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48309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A6573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3A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MAROPOST  ·  DESIGN SANDBOX SHOWCASE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86384" y="196596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design system.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786384" y="292608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0073A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screen.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822960" y="4160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working copy of our product, where every screen follows one shared set of rules.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4892040"/>
            <a:ext cx="5120640" cy="329184"/>
          </a:xfrm>
          <a:prstGeom prst="roundRect">
            <a:avLst>
              <a:gd name="adj" fmla="val 22222"/>
            </a:avLst>
          </a:prstGeom>
          <a:solidFill>
            <a:srgbClr val="DEF3FF"/>
          </a:solidFill>
          <a:ln w="11430">
            <a:solidFill>
              <a:srgbClr val="DEF3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4892040"/>
            <a:ext cx="4974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E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EVERYTHING SHOWN TODAY IS LIVE SOFTWARE — NOT MOCKUPS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" y="5623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791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Deepak · UX  —  July 2026 · 45 minutes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12064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73A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AGENDA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12064" y="69494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we’ll cover in 45 minutes.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12064" y="1691640"/>
            <a:ext cx="1115568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13232" y="1920240"/>
            <a:ext cx="310896" cy="310896"/>
          </a:xfrm>
          <a:prstGeom prst="ellipse">
            <a:avLst/>
          </a:prstGeom>
          <a:solidFill>
            <a:srgbClr val="0073AB"/>
          </a:solidFill>
          <a:ln w="10160">
            <a:solidFill>
              <a:srgbClr val="0073A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34440" y="18105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we did this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34440" y="2093976"/>
            <a:ext cx="9966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problem, in one image — and what it costs us.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12064" y="2587752"/>
            <a:ext cx="1115568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2816352"/>
            <a:ext cx="310896" cy="310896"/>
          </a:xfrm>
          <a:prstGeom prst="ellipse">
            <a:avLst/>
          </a:prstGeom>
          <a:solidFill>
            <a:srgbClr val="0073AB"/>
          </a:solidFill>
          <a:ln w="10160">
            <a:solidFill>
              <a:srgbClr val="0073A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2816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234440" y="27066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75-second film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234440" y="2990088"/>
            <a:ext cx="9966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whole story, compressed.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12064" y="3483864"/>
            <a:ext cx="1115568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13232" y="3712464"/>
            <a:ext cx="310896" cy="310896"/>
          </a:xfrm>
          <a:prstGeom prst="ellipse">
            <a:avLst/>
          </a:prstGeom>
          <a:solidFill>
            <a:srgbClr val="0073AB"/>
          </a:solidFill>
          <a:ln w="10160">
            <a:solidFill>
              <a:srgbClr val="0073A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234440" y="36027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Five screens, live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34440" y="3886200"/>
            <a:ext cx="9966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heart of the session — a real walkthrough, not slides.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12064" y="4379976"/>
            <a:ext cx="1115568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3232" y="4608576"/>
            <a:ext cx="310896" cy="310896"/>
          </a:xfrm>
          <a:prstGeom prst="ellipse">
            <a:avLst/>
          </a:prstGeom>
          <a:solidFill>
            <a:srgbClr val="0073AB"/>
          </a:solidFill>
          <a:ln w="10160">
            <a:solidFill>
              <a:srgbClr val="0073A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3232" y="4608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234440" y="44988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234440" y="4782312"/>
            <a:ext cx="9966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Five layers, explained without jargon.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12064" y="5276088"/>
            <a:ext cx="1115568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13232" y="5504688"/>
            <a:ext cx="310896" cy="310896"/>
          </a:xfrm>
          <a:prstGeom prst="ellipse">
            <a:avLst/>
          </a:prstGeom>
          <a:solidFill>
            <a:srgbClr val="0073AB"/>
          </a:solidFill>
          <a:ln w="10160">
            <a:solidFill>
              <a:srgbClr val="0073A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13232" y="5504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234440" y="53949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plan + six decisions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234440" y="5678424"/>
            <a:ext cx="9966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happens next, and what I need from this room.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48309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A6573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12064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73A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12064" y="69494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screen does its own thing.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53796" y="2071116"/>
            <a:ext cx="5093208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1430">
            <a:solidFill>
              <a:srgbClr val="D4D4D4"/>
            </a:solidFill>
            <a:prstDash val="solid"/>
          </a:ln>
          <a:effectLst>
            <a:outerShdw sx="100000" sy="100000" kx="0" ky="0" algn="bl" rotWithShape="0" blurRad="19050" dist="50800" dir="2700000">
              <a:srgbClr val="0B3558">
                <a:alpha val="8000"/>
              </a:srgbClr>
            </a:outerShdw>
          </a:effectLst>
        </p:spPr>
      </p:sp>
      <p:pic>
        <p:nvPicPr>
          <p:cNvPr id="6" name="Five different Save buttons from current product patterns" descr="Five different Save buttons from current product patter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290008"/>
            <a:ext cx="5029200" cy="173848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85800" y="2103120"/>
            <a:ext cx="5029200" cy="2112264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E5E5E5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5800" y="4434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791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Five Save buttons, recreated from patterns in our current product.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309360" y="2103120"/>
            <a:ext cx="534924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492240" y="2267712"/>
            <a:ext cx="237744" cy="237744"/>
          </a:xfrm>
          <a:prstGeom prst="ellipse">
            <a:avLst/>
          </a:prstGeom>
          <a:solidFill>
            <a:srgbClr val="FBE1DC"/>
          </a:solidFill>
          <a:ln w="10160">
            <a:solidFill>
              <a:srgbClr val="FBE1D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92240" y="22585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876288" y="2221992"/>
            <a:ext cx="4617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Built apart, without a rulebook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76288" y="249631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Screens came from different teams at different times, each making its own sensible — but different — decisions.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6309360" y="3346704"/>
            <a:ext cx="534924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92240" y="3511296"/>
            <a:ext cx="237744" cy="237744"/>
          </a:xfrm>
          <a:prstGeom prst="ellipse">
            <a:avLst/>
          </a:prstGeom>
          <a:solidFill>
            <a:srgbClr val="FBE1DC"/>
          </a:solidFill>
          <a:ln w="10160">
            <a:solidFill>
              <a:srgbClr val="FBE1D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92240" y="35021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!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876288" y="3465576"/>
            <a:ext cx="4617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Ideas took weeks to try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876288" y="3739896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 most design decisions were made from static pictures, which never show loading states, empty tables, or small screens.</a:t>
            </a:r>
            <a:endParaRPr lang="en-US" sz="1080" dirty="0"/>
          </a:p>
        </p:txBody>
      </p:sp>
      <p:sp>
        <p:nvSpPr>
          <p:cNvPr id="19" name="Shape 15"/>
          <p:cNvSpPr/>
          <p:nvPr/>
        </p:nvSpPr>
        <p:spPr>
          <a:xfrm>
            <a:off x="6309360" y="4590288"/>
            <a:ext cx="534924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92240" y="4754880"/>
            <a:ext cx="237744" cy="237744"/>
          </a:xfrm>
          <a:prstGeom prst="ellipse">
            <a:avLst/>
          </a:prstGeom>
          <a:solidFill>
            <a:srgbClr val="FBE1DC"/>
          </a:solidFill>
          <a:ln w="10160">
            <a:solidFill>
              <a:srgbClr val="FBE1D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92240" y="47457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!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876288" y="4709160"/>
            <a:ext cx="4617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Customers feel it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6876288" y="498348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They may not name it, but they notice: the product doesn’t feel like one product.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48309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A6573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12064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73A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BEFORE / AFTER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12064" y="69494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Our dashboard today vs. the sandbox.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34924" y="1888236"/>
            <a:ext cx="5504688" cy="3493008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1430">
            <a:solidFill>
              <a:srgbClr val="D4D4D4"/>
            </a:solidFill>
            <a:prstDash val="solid"/>
          </a:ln>
          <a:effectLst>
            <a:outerShdw sx="100000" sy="100000" kx="0" ky="0" algn="bl" rotWithShape="0" blurRad="19050" dist="50800" dir="2700000">
              <a:srgbClr val="0B3558">
                <a:alpha val="8000"/>
              </a:srgbClr>
            </a:outerShdw>
          </a:effectLst>
        </p:spPr>
      </p:sp>
      <p:pic>
        <p:nvPicPr>
          <p:cNvPr id="6" name="Current dashboard, recreated from UAT" descr="Current dashboard, recreated from U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492197"/>
            <a:ext cx="5440680" cy="228508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1920240"/>
            <a:ext cx="5440680" cy="3429000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E5E5E5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94944" y="2048256"/>
            <a:ext cx="228600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68096" y="2048256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TODAY — RECREATED FROM UAT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6167628" y="1888236"/>
            <a:ext cx="5504688" cy="3493008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1430">
            <a:solidFill>
              <a:srgbClr val="D4D4D4"/>
            </a:solidFill>
            <a:prstDash val="solid"/>
          </a:ln>
          <a:effectLst>
            <a:outerShdw sx="100000" sy="100000" kx="0" ky="0" algn="bl" rotWithShape="0" blurRad="19050" dist="50800" dir="2700000">
              <a:srgbClr val="0B3558">
                <a:alpha val="8000"/>
              </a:srgbClr>
            </a:outerShdw>
          </a:effectLst>
        </p:spPr>
      </p:sp>
      <p:pic>
        <p:nvPicPr>
          <p:cNvPr id="11" name="The same dashboard rebuilt in the sandbox" descr="The same dashboard rebuilt in the sandbox">    </p:cNvPr>
          <p:cNvPicPr>
            <a:picLocks noChangeAspect="1"/>
          </p:cNvPicPr>
          <p:nvPr/>
        </p:nvPicPr>
        <p:blipFill>
          <a:blip r:embed="rId2"/>
          <a:srcRect l="417" r="417" t="0" b="0"/>
          <a:stretch/>
        </p:blipFill>
        <p:spPr>
          <a:xfrm>
            <a:off x="6199632" y="1920240"/>
            <a:ext cx="5440680" cy="34290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199632" y="1920240"/>
            <a:ext cx="5440680" cy="3429000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E5E5E5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327648" y="2048256"/>
            <a:ext cx="228600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400800" y="2048256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SANDBOX — SAME ACCOUNT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566928" y="56235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account, same numbers. The right side is live, running software — every card comes from one shared kit of parts.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48309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A6573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C4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FILM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86384" y="26974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0" b="1" dirty="0">
                <a:solidFill>
                  <a:srgbClr val="F7F5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75 seconds.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822960" y="3977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B8B2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whole story, before we go hands-on.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48309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B8B2A7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12064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73A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SCOPE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12064" y="69494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this is — and what it isn’t.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12064" y="1737360"/>
            <a:ext cx="54864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2011680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D6F0E2"/>
          </a:solidFill>
          <a:ln w="11430">
            <a:solidFill>
              <a:srgbClr val="D6F0E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" y="2011680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7F5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IS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22960" y="2624328"/>
            <a:ext cx="237744" cy="237744"/>
          </a:xfrm>
          <a:prstGeom prst="ellipse">
            <a:avLst/>
          </a:prstGeom>
          <a:solidFill>
            <a:srgbClr val="D6F0E2"/>
          </a:solidFill>
          <a:ln w="10160">
            <a:solidFill>
              <a:srgbClr val="D6F0E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6151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F5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207008" y="25694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working prototype environment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207008" y="284378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171 real screens, on the same technology our product uses.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822960" y="3721608"/>
            <a:ext cx="237744" cy="237744"/>
          </a:xfrm>
          <a:prstGeom prst="ellipse">
            <a:avLst/>
          </a:prstGeom>
          <a:solidFill>
            <a:srgbClr val="D6F0E2"/>
          </a:solidFill>
          <a:ln w="10160">
            <a:solidFill>
              <a:srgbClr val="D6F0E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7124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F5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207008" y="36667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shared kit of parts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207008" y="394106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screen draws from the same components and rules.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822960" y="4818888"/>
            <a:ext cx="237744" cy="237744"/>
          </a:xfrm>
          <a:prstGeom prst="ellipse">
            <a:avLst/>
          </a:prstGeom>
          <a:solidFill>
            <a:srgbClr val="D6F0E2"/>
          </a:solidFill>
          <a:ln w="10160">
            <a:solidFill>
              <a:srgbClr val="D6F0E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8097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F5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207008" y="47640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on the web, right now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207008" y="503834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one of you can click through it after this call.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6199632" y="1737360"/>
            <a:ext cx="54864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64808" y="2011680"/>
            <a:ext cx="1234440" cy="274320"/>
          </a:xfrm>
          <a:prstGeom prst="roundRect">
            <a:avLst>
              <a:gd name="adj" fmla="val 26667"/>
            </a:avLst>
          </a:prstGeom>
          <a:solidFill>
            <a:srgbClr val="FBE1DC"/>
          </a:solidFill>
          <a:ln w="11430">
            <a:solidFill>
              <a:srgbClr val="FBE1D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37960" y="2011680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ISN’T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510528" y="2624328"/>
            <a:ext cx="237744" cy="237744"/>
          </a:xfrm>
          <a:prstGeom prst="ellipse">
            <a:avLst/>
          </a:prstGeom>
          <a:solidFill>
            <a:srgbClr val="FBE1DC"/>
          </a:solidFill>
          <a:ln w="10160">
            <a:solidFill>
              <a:srgbClr val="FBE1D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10528" y="26151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✕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894576" y="25694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rewrite of our product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6894576" y="284378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Nothing changes for customers tomorrow.</a:t>
            </a:r>
            <a:endParaRPr lang="en-US" sz="1080" dirty="0"/>
          </a:p>
        </p:txBody>
      </p:sp>
      <p:sp>
        <p:nvSpPr>
          <p:cNvPr id="27" name="Shape 24"/>
          <p:cNvSpPr/>
          <p:nvPr/>
        </p:nvSpPr>
        <p:spPr>
          <a:xfrm>
            <a:off x="6510528" y="3721608"/>
            <a:ext cx="237744" cy="237744"/>
          </a:xfrm>
          <a:prstGeom prst="ellipse">
            <a:avLst/>
          </a:prstGeom>
          <a:solidFill>
            <a:srgbClr val="FBE1DC"/>
          </a:solidFill>
          <a:ln w="10160">
            <a:solidFill>
              <a:srgbClr val="FBE1D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10528" y="37124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✕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894576" y="36667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Connected to real data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6894576" y="394106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Everything is pretend data — on purpose, so nothing can break.</a:t>
            </a:r>
            <a:endParaRPr lang="en-US" sz="1080" dirty="0"/>
          </a:p>
        </p:txBody>
      </p:sp>
      <p:sp>
        <p:nvSpPr>
          <p:cNvPr id="31" name="Shape 28"/>
          <p:cNvSpPr/>
          <p:nvPr/>
        </p:nvSpPr>
        <p:spPr>
          <a:xfrm>
            <a:off x="6510528" y="4818888"/>
            <a:ext cx="237744" cy="237744"/>
          </a:xfrm>
          <a:prstGeom prst="ellipse">
            <a:avLst/>
          </a:prstGeom>
          <a:solidFill>
            <a:srgbClr val="FBE1DC"/>
          </a:solidFill>
          <a:ln w="10160">
            <a:solidFill>
              <a:srgbClr val="FBE1D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510528" y="48097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✕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894576" y="47640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second system to maintain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6894576" y="503834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good parts converge into LiquidSky, our shared foundation.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48309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A6573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12064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73A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CURRENT STATE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12064" y="69494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What’s in the sandbox today.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12064" y="2148840"/>
            <a:ext cx="2121408" cy="23774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  <a:effectLst>
            <a:outerShdw sx="100000" sy="100000" kx="0" ky="0" algn="bl" rotWithShape="0" blurRad="19050" dist="50800" dir="2700000">
              <a:srgbClr val="0B3558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9224" y="251460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73A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89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9224" y="338328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shared components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76656" y="367588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parts in the kit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2770632" y="2148840"/>
            <a:ext cx="2121408" cy="23774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  <a:effectLst>
            <a:outerShdw sx="100000" sy="100000" kx="0" ky="0" algn="bl" rotWithShape="0" blurRad="19050" dist="50800" dir="2700000">
              <a:srgbClr val="0B3558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907792" y="251460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73A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84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2907792" y="338328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documented parts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935224" y="367588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with its own instruction page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5029200" y="2148840"/>
            <a:ext cx="2121408" cy="23774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  <a:effectLst>
            <a:outerShdw sx="100000" sy="100000" kx="0" ky="0" algn="bl" rotWithShape="0" blurRad="19050" dist="50800" dir="2700000">
              <a:srgbClr val="0B3558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166360" y="251460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73A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171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5166360" y="338328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 screens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193792" y="367588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built from the same kit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7287768" y="2148840"/>
            <a:ext cx="2121408" cy="23774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  <a:effectLst>
            <a:outerShdw sx="100000" sy="100000" kx="0" ky="0" algn="bl" rotWithShape="0" blurRad="19050" dist="50800" dir="2700000">
              <a:srgbClr val="0B3558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24928" y="251460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73A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297</a:t>
            </a:r>
            <a:endParaRPr lang="en-US" sz="4400" dirty="0"/>
          </a:p>
        </p:txBody>
      </p:sp>
      <p:sp>
        <p:nvSpPr>
          <p:cNvPr id="19" name="Text 16"/>
          <p:cNvSpPr/>
          <p:nvPr/>
        </p:nvSpPr>
        <p:spPr>
          <a:xfrm>
            <a:off x="7424928" y="338328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 decisions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7452360" y="367588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written down once, used everywhere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9546336" y="2148840"/>
            <a:ext cx="2121408" cy="23774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  <a:effectLst>
            <a:outerShdw sx="100000" sy="100000" kx="0" ky="0" algn="bl" rotWithShape="0" blurRad="19050" dist="50800" dir="2700000">
              <a:srgbClr val="0B3558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683496" y="251460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73A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4400" dirty="0"/>
          </a:p>
        </p:txBody>
      </p:sp>
      <p:sp>
        <p:nvSpPr>
          <p:cNvPr id="23" name="Text 20"/>
          <p:cNvSpPr/>
          <p:nvPr/>
        </p:nvSpPr>
        <p:spPr>
          <a:xfrm>
            <a:off x="9683496" y="338328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complete themes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9710928" y="367588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light and dark, from one switch</a:t>
            </a:r>
            <a:endParaRPr lang="en-US" sz="980" dirty="0"/>
          </a:p>
        </p:txBody>
      </p:sp>
      <p:sp>
        <p:nvSpPr>
          <p:cNvPr id="25" name="Shape 22"/>
          <p:cNvSpPr/>
          <p:nvPr/>
        </p:nvSpPr>
        <p:spPr>
          <a:xfrm>
            <a:off x="3127248" y="5029200"/>
            <a:ext cx="5943600" cy="566928"/>
          </a:xfrm>
          <a:prstGeom prst="roundRect">
            <a:avLst>
              <a:gd name="adj" fmla="val 12903"/>
            </a:avLst>
          </a:prstGeom>
          <a:solidFill>
            <a:srgbClr val="DEF3FF"/>
          </a:solidFill>
          <a:ln w="11430">
            <a:solidFill>
              <a:srgbClr val="DEF3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310128" y="502920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5E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Counted from the project — not estimated. If the count changes, this slide changes.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48309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A6573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12064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73A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DEMO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12064" y="69494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Five screens, all live.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12064" y="115214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Switching to the browser — everything real, pretend data.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12064" y="2286000"/>
            <a:ext cx="2121408" cy="26060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  <a:effectLst>
            <a:outerShdw sx="100000" sy="100000" kx="0" ky="0" algn="bl" rotWithShape="0" blurRad="19050" dist="50800" dir="2700000">
              <a:srgbClr val="0B3558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76656" y="2487168"/>
            <a:ext cx="347472" cy="347472"/>
          </a:xfrm>
          <a:prstGeom prst="ellipse">
            <a:avLst/>
          </a:prstGeom>
          <a:solidFill>
            <a:srgbClr val="0073AB"/>
          </a:solidFill>
          <a:ln w="10160">
            <a:solidFill>
              <a:srgbClr val="0073A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6656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76656" y="306324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Dashboard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76656" y="365760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calm version of our busiest screen.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2638044" y="33832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8791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770632" y="2286000"/>
            <a:ext cx="2121408" cy="26060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  <a:effectLst>
            <a:outerShdw sx="100000" sy="100000" kx="0" ky="0" algn="bl" rotWithShape="0" blurRad="19050" dist="50800" dir="2700000">
              <a:srgbClr val="0B3558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935224" y="2487168"/>
            <a:ext cx="347472" cy="347472"/>
          </a:xfrm>
          <a:prstGeom prst="ellipse">
            <a:avLst/>
          </a:prstGeom>
          <a:solidFill>
            <a:srgbClr val="0073AB"/>
          </a:solidFill>
          <a:ln w="10160">
            <a:solidFill>
              <a:srgbClr val="0073A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35224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935224" y="306324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Sales Orders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2935224" y="365760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Learn one list screen, know half the product.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4896612" y="33832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8791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029200" y="2286000"/>
            <a:ext cx="2121408" cy="26060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  <a:effectLst>
            <a:outerShdw sx="100000" sy="100000" kx="0" ky="0" algn="bl" rotWithShape="0" blurRad="19050" dist="50800" dir="2700000">
              <a:srgbClr val="0B3558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193792" y="2487168"/>
            <a:ext cx="347472" cy="347472"/>
          </a:xfrm>
          <a:prstGeom prst="ellipse">
            <a:avLst/>
          </a:prstGeom>
          <a:solidFill>
            <a:srgbClr val="0073AB"/>
          </a:solidFill>
          <a:ln w="10160">
            <a:solidFill>
              <a:srgbClr val="0073A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93792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193792" y="306324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Contact detail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5193792" y="365760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way to edit things — not thirty.</a:t>
            </a:r>
            <a:endParaRPr lang="en-US" sz="1080" dirty="0"/>
          </a:p>
        </p:txBody>
      </p:sp>
      <p:sp>
        <p:nvSpPr>
          <p:cNvPr id="23" name="Text 20"/>
          <p:cNvSpPr/>
          <p:nvPr/>
        </p:nvSpPr>
        <p:spPr>
          <a:xfrm>
            <a:off x="7155180" y="33832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8791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287768" y="2286000"/>
            <a:ext cx="2121408" cy="26060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  <a:effectLst>
            <a:outerShdw sx="100000" sy="100000" kx="0" ky="0" algn="bl" rotWithShape="0" blurRad="19050" dist="50800" dir="2700000">
              <a:srgbClr val="0B3558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452360" y="2487168"/>
            <a:ext cx="347472" cy="347472"/>
          </a:xfrm>
          <a:prstGeom prst="ellipse">
            <a:avLst/>
          </a:prstGeom>
          <a:solidFill>
            <a:srgbClr val="0073AB"/>
          </a:solidFill>
          <a:ln w="10160">
            <a:solidFill>
              <a:srgbClr val="0073A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5236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452360" y="306324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Journey builder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7452360" y="365760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family, different room.</a:t>
            </a:r>
            <a:endParaRPr lang="en-US" sz="1080" dirty="0"/>
          </a:p>
        </p:txBody>
      </p:sp>
      <p:sp>
        <p:nvSpPr>
          <p:cNvPr id="29" name="Text 26"/>
          <p:cNvSpPr/>
          <p:nvPr/>
        </p:nvSpPr>
        <p:spPr>
          <a:xfrm>
            <a:off x="9413748" y="33832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8791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9546336" y="2286000"/>
            <a:ext cx="2121408" cy="26060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  <a:effectLst>
            <a:outerShdw sx="100000" sy="100000" kx="0" ky="0" algn="bl" rotWithShape="0" blurRad="19050" dist="50800" dir="2700000">
              <a:srgbClr val="0B3558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9710928" y="2487168"/>
            <a:ext cx="347472" cy="347472"/>
          </a:xfrm>
          <a:prstGeom prst="ellipse">
            <a:avLst/>
          </a:prstGeom>
          <a:solidFill>
            <a:srgbClr val="0073AB"/>
          </a:solidFill>
          <a:ln w="10160">
            <a:solidFill>
              <a:srgbClr val="0073A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710928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710928" y="306324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 Vinci + the flip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9710928" y="365760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keypress: every screen changes its clothes.</a:t>
            </a:r>
            <a:endParaRPr lang="en-US" sz="1080" dirty="0"/>
          </a:p>
        </p:txBody>
      </p:sp>
      <p:sp>
        <p:nvSpPr>
          <p:cNvPr id="35" name="Text 32"/>
          <p:cNvSpPr/>
          <p:nvPr/>
        </p:nvSpPr>
        <p:spPr>
          <a:xfrm>
            <a:off x="512064" y="52578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8791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Rules of the road: open and close anything — never save, never delete. Backup screenshots of every stop live in the appendix.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48309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A6573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12064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73A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IT’S BUILT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12064" y="69494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Five layers, from decisions to screens.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706624" y="1783080"/>
            <a:ext cx="69494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935224" y="18745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· Product areas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935224" y="213055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Dashboards, builders — their own layouts, on the same foundations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157984" y="2624328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386584" y="271576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· Page recipes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386584" y="29718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list page, a detail page — assembled from the patterns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609344" y="3465576"/>
            <a:ext cx="91440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37944" y="35570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· Patterns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837944" y="3813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Page headers, search-and-filter bars — snapped together from parts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060704" y="4306824"/>
            <a:ext cx="102412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89304" y="43982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· Parts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289304" y="4654296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89 components: buttons, fields, cards, tables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12064" y="5148072"/>
            <a:ext cx="11338560" cy="713232"/>
          </a:xfrm>
          <a:prstGeom prst="roundRect">
            <a:avLst>
              <a:gd name="adj" fmla="val 10256"/>
            </a:avLst>
          </a:prstGeom>
          <a:solidFill>
            <a:srgbClr val="0073AB"/>
          </a:solidFill>
          <a:ln w="11430">
            <a:solidFill>
              <a:srgbClr val="0073AB"/>
            </a:solidFill>
            <a:prstDash val="solid"/>
          </a:ln>
          <a:effectLst>
            <a:outerShdw sx="100000" sy="100000" kx="0" ky="0" algn="bl" rotWithShape="0" blurRad="19050" dist="50800" dir="2700000">
              <a:srgbClr val="0B3558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0664" y="523951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· Decisions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40664" y="549554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EF3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297 values: every color, size, and spacing — written down once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12064" y="6035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5E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Change a decision at the bottom → it flows up through everything. That’s the dark-mode flip you just watched.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48309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A6573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12064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73A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DOCUMENTATION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12064" y="69494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part comes with instructions.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12064" y="2103120"/>
            <a:ext cx="44805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94944" y="2267712"/>
            <a:ext cx="292608" cy="292608"/>
          </a:xfrm>
          <a:prstGeom prst="ellipse">
            <a:avLst/>
          </a:prstGeom>
          <a:solidFill>
            <a:srgbClr val="0073AB"/>
          </a:solidFill>
          <a:ln w="10160">
            <a:solidFill>
              <a:srgbClr val="0073A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4944" y="2267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52144" y="222199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page per part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52144" y="249631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it’s for, when to use it — and when not to.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512064" y="3346704"/>
            <a:ext cx="44805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4944" y="3511296"/>
            <a:ext cx="292608" cy="292608"/>
          </a:xfrm>
          <a:prstGeom prst="ellipse">
            <a:avLst/>
          </a:prstGeom>
          <a:solidFill>
            <a:srgbClr val="0073AB"/>
          </a:solidFill>
          <a:ln w="10160">
            <a:solidFill>
              <a:srgbClr val="0073A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152144" y="346557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can’t go stale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152144" y="37398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page renders the actual part, not a drawing of it. If the part changes, the page changes.</a:t>
            </a:r>
            <a:endParaRPr lang="en-US" sz="1060" dirty="0"/>
          </a:p>
        </p:txBody>
      </p:sp>
      <p:sp>
        <p:nvSpPr>
          <p:cNvPr id="15" name="Shape 12"/>
          <p:cNvSpPr/>
          <p:nvPr/>
        </p:nvSpPr>
        <p:spPr>
          <a:xfrm>
            <a:off x="512064" y="4590288"/>
            <a:ext cx="44805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94944" y="4754880"/>
            <a:ext cx="292608" cy="292608"/>
          </a:xfrm>
          <a:prstGeom prst="ellipse">
            <a:avLst/>
          </a:prstGeom>
          <a:solidFill>
            <a:srgbClr val="0073AB"/>
          </a:solidFill>
          <a:ln w="10160">
            <a:solidFill>
              <a:srgbClr val="0073A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" y="4754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52144" y="470916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house rule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152144" y="49834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instruction page, no component. 84 of 89 parts are fully documented today.</a:t>
            </a:r>
            <a:endParaRPr lang="en-US" sz="1060" dirty="0"/>
          </a:p>
        </p:txBody>
      </p:sp>
      <p:sp>
        <p:nvSpPr>
          <p:cNvPr id="20" name="Shape 17"/>
          <p:cNvSpPr/>
          <p:nvPr/>
        </p:nvSpPr>
        <p:spPr>
          <a:xfrm>
            <a:off x="5317236" y="1933956"/>
            <a:ext cx="6373368" cy="3995928"/>
          </a:xfrm>
          <a:prstGeom prst="roundRect">
            <a:avLst>
              <a:gd name="adj" fmla="val 1831"/>
            </a:avLst>
          </a:prstGeom>
          <a:solidFill>
            <a:srgbClr val="FFFFFF"/>
          </a:solidFill>
          <a:ln w="11430">
            <a:solidFill>
              <a:srgbClr val="D4D4D4"/>
            </a:solidFill>
            <a:prstDash val="solid"/>
          </a:ln>
          <a:effectLst>
            <a:outerShdw sx="100000" sy="100000" kx="0" ky="0" algn="bl" rotWithShape="0" blurRad="19050" dist="50800" dir="2700000">
              <a:srgbClr val="0B3558">
                <a:alpha val="8000"/>
              </a:srgbClr>
            </a:outerShdw>
          </a:effectLst>
        </p:spPr>
      </p:sp>
      <p:pic>
        <p:nvPicPr>
          <p:cNvPr id="21" name="Component documentation: the MpPageHeader instruction page" descr="Component documentation: the MpPageHeader instruction page">    </p:cNvPr>
          <p:cNvPicPr>
            <a:picLocks noChangeAspect="1"/>
          </p:cNvPicPr>
          <p:nvPr/>
        </p:nvPicPr>
        <p:blipFill>
          <a:blip r:embed="rId1"/>
          <a:srcRect l="0" r="0" t="0" b="290"/>
          <a:stretch/>
        </p:blipFill>
        <p:spPr>
          <a:xfrm>
            <a:off x="5349240" y="1965960"/>
            <a:ext cx="6309360" cy="393192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5349240" y="1965960"/>
            <a:ext cx="6309360" cy="3931920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E5E5E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477256" y="2093976"/>
            <a:ext cx="201168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550408" y="2093976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INSTRUCTION MANUAL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48309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A6573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12064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73A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THIS MATTERS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12064" y="69494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idea becomes clickable in a day.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12064" y="219456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  <a:effectLst>
            <a:outerShdw sx="100000" sy="100000" kx="0" ky="0" algn="bl" rotWithShape="0" blurRad="19050" dist="50800" dir="2700000">
              <a:srgbClr val="0B3558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86384" y="2514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73A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Try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786384" y="30632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new screen is clickable in a day — the parts already exist, so building a prototype is assembly, not construction.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34256" y="219456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  <a:effectLst>
            <a:outerShdw sx="100000" sy="100000" kx="0" ky="0" algn="bl" rotWithShape="0" blurRad="19050" dist="50800" dir="2700000">
              <a:srgbClr val="0B3558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608576" y="2514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73A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Review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4608576" y="30632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change gets a private web link. You click the real flow on your own laptop — not a picture in a meeting.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156448" y="219456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  <a:effectLst>
            <a:outerShdw sx="100000" sy="100000" kx="0" ky="0" algn="bl" rotWithShape="0" blurRad="19050" dist="50800" dir="2700000">
              <a:srgbClr val="0B3558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430768" y="2514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73A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8430768" y="30632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Engineers start from a working reference they can copy, instead of a mockup they have to interpret.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212848" y="5074920"/>
            <a:ext cx="7772400" cy="566928"/>
          </a:xfrm>
          <a:prstGeom prst="roundRect">
            <a:avLst>
              <a:gd name="adj" fmla="val 12903"/>
            </a:avLst>
          </a:prstGeom>
          <a:solidFill>
            <a:srgbClr val="DEF3FF"/>
          </a:solidFill>
          <a:ln w="11430">
            <a:solidFill>
              <a:srgbClr val="DEF3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395728" y="50749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E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This sandbox — all 171 screens of it — was built exactly this way.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48309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A6573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12064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73A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IMPLEMENTATION PLAN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12064" y="69494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Converge into LiquidSky — step by step.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12064" y="210312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94944" y="2286000"/>
            <a:ext cx="502920" cy="256032"/>
          </a:xfrm>
          <a:prstGeom prst="roundRect">
            <a:avLst>
              <a:gd name="adj" fmla="val 28571"/>
            </a:avLst>
          </a:prstGeom>
          <a:solidFill>
            <a:srgbClr val="DEF3FF"/>
          </a:solidFill>
          <a:ln w="11430">
            <a:solidFill>
              <a:srgbClr val="DEF3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" y="2286000"/>
            <a:ext cx="356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E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94944" y="2697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Compatibility review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94944" y="32004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named people sort every part: use as-is, wrap, contribute, or keep local. About two weeks.</a:t>
            </a:r>
            <a:endParaRPr lang="en-US" sz="1060" dirty="0"/>
          </a:p>
        </p:txBody>
      </p:sp>
      <p:sp>
        <p:nvSpPr>
          <p:cNvPr id="10" name="Text 7"/>
          <p:cNvSpPr/>
          <p:nvPr/>
        </p:nvSpPr>
        <p:spPr>
          <a:xfrm>
            <a:off x="3209544" y="31089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8791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74136" y="210312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57016" y="2286000"/>
            <a:ext cx="502920" cy="256032"/>
          </a:xfrm>
          <a:prstGeom prst="roundRect">
            <a:avLst>
              <a:gd name="adj" fmla="val 28571"/>
            </a:avLst>
          </a:prstGeom>
          <a:solidFill>
            <a:srgbClr val="DEF3FF"/>
          </a:solidFill>
          <a:ln w="11430">
            <a:solidFill>
              <a:srgbClr val="DEF3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30168" y="2286000"/>
            <a:ext cx="356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E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557016" y="2697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Pilot the safe parts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557016" y="32004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 with the simple, self-contained pieces — headers, dialogs, empty states.</a:t>
            </a:r>
            <a:endParaRPr lang="en-US" sz="1060" dirty="0"/>
          </a:p>
        </p:txBody>
      </p:sp>
      <p:sp>
        <p:nvSpPr>
          <p:cNvPr id="16" name="Text 13"/>
          <p:cNvSpPr/>
          <p:nvPr/>
        </p:nvSpPr>
        <p:spPr>
          <a:xfrm>
            <a:off x="6071616" y="31089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8791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236208" y="210312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19088" y="2286000"/>
            <a:ext cx="502920" cy="256032"/>
          </a:xfrm>
          <a:prstGeom prst="roundRect">
            <a:avLst>
              <a:gd name="adj" fmla="val 28571"/>
            </a:avLst>
          </a:prstGeom>
          <a:solidFill>
            <a:srgbClr val="DEF3FF"/>
          </a:solidFill>
          <a:ln w="11430">
            <a:solidFill>
              <a:srgbClr val="DEF3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92240" y="2286000"/>
            <a:ext cx="356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E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19088" y="2697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full page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419088" y="32004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Sales Orders, built the new way inside the real product.</a:t>
            </a:r>
            <a:endParaRPr lang="en-US" sz="1060" dirty="0"/>
          </a:p>
        </p:txBody>
      </p:sp>
      <p:sp>
        <p:nvSpPr>
          <p:cNvPr id="22" name="Text 19"/>
          <p:cNvSpPr/>
          <p:nvPr/>
        </p:nvSpPr>
        <p:spPr>
          <a:xfrm>
            <a:off x="8933688" y="31089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8791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9098280" y="210312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281160" y="2286000"/>
            <a:ext cx="502920" cy="256032"/>
          </a:xfrm>
          <a:prstGeom prst="roundRect">
            <a:avLst>
              <a:gd name="adj" fmla="val 28571"/>
            </a:avLst>
          </a:prstGeom>
          <a:solidFill>
            <a:srgbClr val="DEF3FF"/>
          </a:solidFill>
          <a:ln w="11430">
            <a:solidFill>
              <a:srgbClr val="DEF3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354312" y="2286000"/>
            <a:ext cx="356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E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281160" y="2697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Area by area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9281160" y="32004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Adopt at the pace the evidence supports. Shell last.</a:t>
            </a:r>
            <a:endParaRPr lang="en-US" sz="1060" dirty="0"/>
          </a:p>
        </p:txBody>
      </p:sp>
      <p:sp>
        <p:nvSpPr>
          <p:cNvPr id="28" name="Shape 25"/>
          <p:cNvSpPr/>
          <p:nvPr/>
        </p:nvSpPr>
        <p:spPr>
          <a:xfrm>
            <a:off x="1755648" y="4892040"/>
            <a:ext cx="8686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1430">
            <a:solidFill>
              <a:srgbClr val="D4D4D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029968" y="502920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dates on this slide — deliberately.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2029968" y="528523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two pilots turn guesses into numbers you can hold me to. I’d rather be accurate than fast.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48309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A6573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12064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73A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DECISIONS I NEED TODAY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12064" y="69494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Six asks — none need budget this quarter.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12064" y="20116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  <a:effectLst>
            <a:outerShdw sx="100000" sy="100000" kx="0" ky="0" algn="bl" rotWithShape="0" blurRad="19050" dist="50800" dir="2700000">
              <a:srgbClr val="0B3558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13232" y="2212848"/>
            <a:ext cx="329184" cy="329184"/>
          </a:xfrm>
          <a:prstGeom prst="ellipse">
            <a:avLst/>
          </a:prstGeom>
          <a:solidFill>
            <a:srgbClr val="0073AB"/>
          </a:solidFill>
          <a:ln w="10160">
            <a:solidFill>
              <a:srgbClr val="0073A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97864" y="21945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Sign off on the direction</a:t>
            </a:r>
            <a:endParaRPr lang="en-US" sz="1320" dirty="0"/>
          </a:p>
        </p:txBody>
      </p:sp>
      <p:sp>
        <p:nvSpPr>
          <p:cNvPr id="9" name="Text 6"/>
          <p:cNvSpPr/>
          <p:nvPr/>
        </p:nvSpPr>
        <p:spPr>
          <a:xfrm>
            <a:off x="713232" y="26974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look and behavior you saw today becomes our agreed direction.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334256" y="20116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  <a:effectLst>
            <a:outerShdw sx="100000" sy="100000" kx="0" ky="0" algn="bl" rotWithShape="0" blurRad="19050" dist="50800" dir="2700000">
              <a:srgbClr val="0B3558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35424" y="2212848"/>
            <a:ext cx="329184" cy="329184"/>
          </a:xfrm>
          <a:prstGeom prst="ellipse">
            <a:avLst/>
          </a:prstGeom>
          <a:solidFill>
            <a:srgbClr val="0073AB"/>
          </a:solidFill>
          <a:ln w="10160">
            <a:solidFill>
              <a:srgbClr val="0073A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35424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0056" y="21945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Make this the shared reference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4535424" y="26974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When we discuss design, the sandbox and its docs are what we point at.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8156448" y="20116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  <a:effectLst>
            <a:outerShdw sx="100000" sy="100000" kx="0" ky="0" algn="bl" rotWithShape="0" blurRad="19050" dist="50800" dir="2700000">
              <a:srgbClr val="0B3558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57616" y="2212848"/>
            <a:ext cx="329184" cy="329184"/>
          </a:xfrm>
          <a:prstGeom prst="ellipse">
            <a:avLst/>
          </a:prstGeom>
          <a:solidFill>
            <a:srgbClr val="0073AB"/>
          </a:solidFill>
          <a:ln w="10160">
            <a:solidFill>
              <a:srgbClr val="0073A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57616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842248" y="21945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names for the review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8357616" y="26974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LiquidSky maintainer + one product engineer, for the two-week review.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512064" y="39776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  <a:effectLst>
            <a:outerShdw sx="100000" sy="100000" kx="0" ky="0" algn="bl" rotWithShape="0" blurRad="19050" dist="50800" dir="2700000">
              <a:srgbClr val="0B3558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13232" y="4178808"/>
            <a:ext cx="329184" cy="329184"/>
          </a:xfrm>
          <a:prstGeom prst="ellipse">
            <a:avLst/>
          </a:prstGeom>
          <a:solidFill>
            <a:srgbClr val="0073AB"/>
          </a:solidFill>
          <a:ln w="10160">
            <a:solidFill>
              <a:srgbClr val="0073A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3232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197864" y="41605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Access to LiquidSky</a:t>
            </a:r>
            <a:endParaRPr lang="en-US" sz="1320" dirty="0"/>
          </a:p>
        </p:txBody>
      </p:sp>
      <p:sp>
        <p:nvSpPr>
          <p:cNvPr id="24" name="Text 21"/>
          <p:cNvSpPr/>
          <p:nvPr/>
        </p:nvSpPr>
        <p:spPr>
          <a:xfrm>
            <a:off x="713232" y="46634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repository and its normal contribution process.</a:t>
            </a:r>
            <a:endParaRPr lang="en-US" sz="1080" dirty="0"/>
          </a:p>
        </p:txBody>
      </p:sp>
      <p:sp>
        <p:nvSpPr>
          <p:cNvPr id="25" name="Shape 22"/>
          <p:cNvSpPr/>
          <p:nvPr/>
        </p:nvSpPr>
        <p:spPr>
          <a:xfrm>
            <a:off x="4334256" y="39776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  <a:effectLst>
            <a:outerShdw sx="100000" sy="100000" kx="0" ky="0" algn="bl" rotWithShape="0" blurRad="19050" dist="50800" dir="2700000">
              <a:srgbClr val="0B3558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35424" y="4178808"/>
            <a:ext cx="329184" cy="329184"/>
          </a:xfrm>
          <a:prstGeom prst="ellipse">
            <a:avLst/>
          </a:prstGeom>
          <a:solidFill>
            <a:srgbClr val="0073AB"/>
          </a:solidFill>
          <a:ln w="10160">
            <a:solidFill>
              <a:srgbClr val="0073A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35424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020056" y="41605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Approve the two pilots</a:t>
            </a:r>
            <a:endParaRPr lang="en-US" sz="1320" dirty="0"/>
          </a:p>
        </p:txBody>
      </p:sp>
      <p:sp>
        <p:nvSpPr>
          <p:cNvPr id="29" name="Text 26"/>
          <p:cNvSpPr/>
          <p:nvPr/>
        </p:nvSpPr>
        <p:spPr>
          <a:xfrm>
            <a:off x="4535424" y="46634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safe parts first, then the Sales Orders page.</a:t>
            </a:r>
            <a:endParaRPr lang="en-US" sz="1080" dirty="0"/>
          </a:p>
        </p:txBody>
      </p:sp>
      <p:sp>
        <p:nvSpPr>
          <p:cNvPr id="30" name="Shape 27"/>
          <p:cNvSpPr/>
          <p:nvPr/>
        </p:nvSpPr>
        <p:spPr>
          <a:xfrm>
            <a:off x="8156448" y="39776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  <a:effectLst>
            <a:outerShdw sx="100000" sy="100000" kx="0" ky="0" algn="bl" rotWithShape="0" blurRad="19050" dist="50800" dir="2700000">
              <a:srgbClr val="0B3558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357616" y="4178808"/>
            <a:ext cx="329184" cy="329184"/>
          </a:xfrm>
          <a:prstGeom prst="ellipse">
            <a:avLst/>
          </a:prstGeom>
          <a:solidFill>
            <a:srgbClr val="0073AB"/>
          </a:solidFill>
          <a:ln w="10160">
            <a:solidFill>
              <a:srgbClr val="0073A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357616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842248" y="41605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second library — ever</a:t>
            </a:r>
            <a:endParaRPr lang="en-US" sz="1320" dirty="0"/>
          </a:p>
        </p:txBody>
      </p:sp>
      <p:sp>
        <p:nvSpPr>
          <p:cNvPr id="34" name="Text 31"/>
          <p:cNvSpPr/>
          <p:nvPr/>
        </p:nvSpPr>
        <p:spPr>
          <a:xfrm>
            <a:off x="8357616" y="46634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Nothing ships from the sandbox as a separate package. One foundation.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48309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A6573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C4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OVER TO YOU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86384" y="27889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0" b="1" dirty="0">
                <a:solidFill>
                  <a:srgbClr val="F7F5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Questions.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822960" y="4069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B8B2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Ask me the hard ones — they’re the reason we’re all here.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48309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B8B2A7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12064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73A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KEEP CLICKING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12064" y="69494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Everything you saw is live.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12064" y="2103120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22494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73A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sandbox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297680" y="224942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Link in the meeting chat — every screen from today’s demo.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12064" y="3154680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33009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73A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component wall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297680" y="330098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/showcase — all 89 parts on one page.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12064" y="4206240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" y="43525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73A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instruction manual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297680" y="435254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Storybook — every part’s documentation, live.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898648" y="5486400"/>
            <a:ext cx="6400800" cy="566928"/>
          </a:xfrm>
          <a:prstGeom prst="roundRect">
            <a:avLst>
              <a:gd name="adj" fmla="val 12903"/>
            </a:avLst>
          </a:prstGeom>
          <a:solidFill>
            <a:srgbClr val="DEF3FF"/>
          </a:solidFill>
          <a:ln w="11430">
            <a:solidFill>
              <a:srgbClr val="DEF3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81528" y="548640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5E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Pretend data — you can’t break anything. Please try.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12064" y="54864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8791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Thank you.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48309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A6573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12064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73A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DEMO FALLBACK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12064" y="69494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Stop 1 · Dashboard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12064" y="115214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Captured live from the sandbox — July 20, 2026.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586484" y="1842516"/>
            <a:ext cx="9025128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11430">
            <a:solidFill>
              <a:srgbClr val="D4D4D4"/>
            </a:solidFill>
            <a:prstDash val="solid"/>
          </a:ln>
          <a:effectLst>
            <a:outerShdw sx="100000" sy="100000" kx="0" ky="0" algn="bl" rotWithShape="0" blurRad="19050" dist="50800" dir="2700000">
              <a:srgbClr val="0B3558">
                <a:alpha val="8000"/>
              </a:srgbClr>
            </a:outerShdw>
          </a:effectLst>
        </p:spPr>
      </p:sp>
      <p:pic>
        <p:nvPicPr>
          <p:cNvPr id="7" name="Dashboard — KPI cards, chart, setup guide, all from the shared kit" descr="Dashboard — KPI cards, chart, setup guide, all from the shared k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0632" y="1874520"/>
            <a:ext cx="6656832" cy="41605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618488" y="1874520"/>
            <a:ext cx="8961120" cy="4160520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E5E5E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48309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A6573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12064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73A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DEMO FALLBACK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12064" y="69494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Stop 2 · Sales Orders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12064" y="115214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Captured live from the sandbox — July 20, 2026.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586484" y="1842516"/>
            <a:ext cx="9025128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11430">
            <a:solidFill>
              <a:srgbClr val="D4D4D4"/>
            </a:solidFill>
            <a:prstDash val="solid"/>
          </a:ln>
          <a:effectLst>
            <a:outerShdw sx="100000" sy="100000" kx="0" ky="0" algn="bl" rotWithShape="0" blurRad="19050" dist="50800" dir="2700000">
              <a:srgbClr val="0B3558">
                <a:alpha val="8000"/>
              </a:srgbClr>
            </a:outerShdw>
          </a:effectLst>
        </p:spPr>
      </p:sp>
      <p:pic>
        <p:nvPicPr>
          <p:cNvPr id="7" name="Sales Orders — the list pattern: tabs, search, filters, bulk actions" descr="Sales Orders — the list pattern: tabs, search, filters, bulk ac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0632" y="1874520"/>
            <a:ext cx="6656832" cy="41605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618488" y="1874520"/>
            <a:ext cx="8961120" cy="4160520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E5E5E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48309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A6573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12064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73A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DEMO FALLBACK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12064" y="69494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Stop 3 · Contact detail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12064" y="115214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Captured live from the sandbox — July 20, 2026.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586484" y="1842516"/>
            <a:ext cx="9025128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11430">
            <a:solidFill>
              <a:srgbClr val="D4D4D4"/>
            </a:solidFill>
            <a:prstDash val="solid"/>
          </a:ln>
          <a:effectLst>
            <a:outerShdw sx="100000" sy="100000" kx="0" ky="0" algn="bl" rotWithShape="0" blurRad="19050" dist="50800" dir="2700000">
              <a:srgbClr val="0B3558">
                <a:alpha val="8000"/>
              </a:srgbClr>
            </a:outerShdw>
          </a:effectLst>
        </p:spPr>
      </p:sp>
      <p:pic>
        <p:nvPicPr>
          <p:cNvPr id="7" name="Contact detail — shared header, facts left, activity right" descr="Contact detail — shared header, facts left, activity 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0632" y="1874520"/>
            <a:ext cx="6656832" cy="41605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618488" y="1874520"/>
            <a:ext cx="8961120" cy="4160520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E5E5E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48309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A6573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12064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73A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DEMO FALLBACK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12064" y="69494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Stop 4 · Journey builder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12064" y="115214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Captured live from the sandbox — July 20, 2026.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586484" y="1842516"/>
            <a:ext cx="9025128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11430">
            <a:solidFill>
              <a:srgbClr val="D4D4D4"/>
            </a:solidFill>
            <a:prstDash val="solid"/>
          </a:ln>
          <a:effectLst>
            <a:outerShdw sx="100000" sy="100000" kx="0" ky="0" algn="bl" rotWithShape="0" blurRad="19050" dist="50800" dir="2700000">
              <a:srgbClr val="0B3558">
                <a:alpha val="8000"/>
              </a:srgbClr>
            </a:outerShdw>
          </a:effectLst>
        </p:spPr>
      </p:sp>
      <p:pic>
        <p:nvPicPr>
          <p:cNvPr id="7" name="Journey builder — a canvas, same parts underneath" descr="Journey builder — a canvas, same parts undernea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0632" y="1874520"/>
            <a:ext cx="6656832" cy="41605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618488" y="1874520"/>
            <a:ext cx="8961120" cy="4160520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E5E5E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48309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A6573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12064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73A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DEMO FALLBACK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12064" y="69494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Stop 5 · Da Vinci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12064" y="115214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Captured live from the sandbox — July 20, 2026.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586484" y="1842516"/>
            <a:ext cx="9025128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11430">
            <a:solidFill>
              <a:srgbClr val="D4D4D4"/>
            </a:solidFill>
            <a:prstDash val="solid"/>
          </a:ln>
          <a:effectLst>
            <a:outerShdw sx="100000" sy="100000" kx="0" ky="0" algn="bl" rotWithShape="0" blurRad="19050" dist="50800" dir="2700000">
              <a:srgbClr val="0B3558">
                <a:alpha val="8000"/>
              </a:srgbClr>
            </a:outerShdw>
          </a:effectLst>
        </p:spPr>
      </p:sp>
      <p:pic>
        <p:nvPicPr>
          <p:cNvPr id="7" name="Da Vinci — the AI surface on the same foundations" descr="Da Vinci — the AI surface on the same found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0632" y="1874520"/>
            <a:ext cx="6656832" cy="41605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618488" y="1874520"/>
            <a:ext cx="8961120" cy="4160520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E5E5E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48309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A6573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12064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73A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DEMO FALLBACK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12064" y="69494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theme flip — one change, every screen.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12064" y="115214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A65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screen, same data. 297 decisions flip to their dark values at once.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34924" y="1933956"/>
            <a:ext cx="5504688" cy="3493008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1430">
            <a:solidFill>
              <a:srgbClr val="D4D4D4"/>
            </a:solidFill>
            <a:prstDash val="solid"/>
          </a:ln>
          <a:effectLst>
            <a:outerShdw sx="100000" sy="100000" kx="0" ky="0" algn="bl" rotWithShape="0" blurRad="19050" dist="50800" dir="2700000">
              <a:srgbClr val="0B3558">
                <a:alpha val="8000"/>
              </a:srgbClr>
            </a:outerShdw>
          </a:effectLst>
        </p:spPr>
      </p:sp>
      <p:pic>
        <p:nvPicPr>
          <p:cNvPr id="7" name="Dashboard in light theme" descr="Dashboard in light theme">    </p:cNvPr>
          <p:cNvPicPr>
            <a:picLocks noChangeAspect="1"/>
          </p:cNvPicPr>
          <p:nvPr/>
        </p:nvPicPr>
        <p:blipFill>
          <a:blip r:embed="rId1"/>
          <a:srcRect l="417" r="417" t="0" b="0"/>
          <a:stretch/>
        </p:blipFill>
        <p:spPr>
          <a:xfrm>
            <a:off x="566928" y="1965960"/>
            <a:ext cx="5440680" cy="3429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66928" y="1965960"/>
            <a:ext cx="5440680" cy="3429000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E5E5E5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94944" y="2093976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68096" y="209397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LIGHT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6167628" y="1933956"/>
            <a:ext cx="5504688" cy="3493008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1430">
            <a:solidFill>
              <a:srgbClr val="D4D4D4"/>
            </a:solidFill>
            <a:prstDash val="solid"/>
          </a:ln>
          <a:effectLst>
            <a:outerShdw sx="100000" sy="100000" kx="0" ky="0" algn="bl" rotWithShape="0" blurRad="19050" dist="50800" dir="2700000">
              <a:srgbClr val="0B3558">
                <a:alpha val="8000"/>
              </a:srgbClr>
            </a:outerShdw>
          </a:effectLst>
        </p:spPr>
      </p:sp>
      <p:pic>
        <p:nvPicPr>
          <p:cNvPr id="12" name="Dashboard in dark theme" descr="Dashboard in dark theme">    </p:cNvPr>
          <p:cNvPicPr>
            <a:picLocks noChangeAspect="1"/>
          </p:cNvPicPr>
          <p:nvPr/>
        </p:nvPicPr>
        <p:blipFill>
          <a:blip r:embed="rId2"/>
          <a:srcRect l="417" r="417" t="0" b="0"/>
          <a:stretch/>
        </p:blipFill>
        <p:spPr>
          <a:xfrm>
            <a:off x="6199632" y="1965960"/>
            <a:ext cx="5440680" cy="34290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199632" y="1965960"/>
            <a:ext cx="5440680" cy="3429000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E5E5E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327648" y="2093976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1430">
            <a:solidFill>
              <a:srgbClr val="E5E5E5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400800" y="209397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8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DARK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48309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A6573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Maropost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design system. Every screen.</dc:title>
  <dc:subject>Design system + design sandbox showcase for product and technology leadership</dc:subject>
  <dc:creator>Maropost Product Design</dc:creator>
  <cp:lastModifiedBy>Maropost Product Design</cp:lastModifiedBy>
  <cp:revision>1</cp:revision>
  <dcterms:created xsi:type="dcterms:W3CDTF">2026-07-20T05:32:03Z</dcterms:created>
  <dcterms:modified xsi:type="dcterms:W3CDTF">2026-07-20T05:32:03Z</dcterms:modified>
</cp:coreProperties>
</file>